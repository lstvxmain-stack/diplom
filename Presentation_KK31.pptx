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57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66800" y="137160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rgbClr val="FFFFFF"/>
                </a:solidFill>
                <a:latin typeface="Calibri"/>
              </a:rPr>
              <a:t>ДИПЛОМНАЯ 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РАБОТА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dirty="0" err="1">
                <a:solidFill>
                  <a:srgbClr val="ECF0F1"/>
                </a:solidFill>
                <a:latin typeface="Calibri"/>
              </a:rPr>
              <a:t>Разработка</a:t>
            </a:r>
            <a:r>
              <a:rPr sz="2800" b="0" dirty="0">
                <a:solidFill>
                  <a:srgbClr val="ECF0F1"/>
                </a:solidFill>
                <a:latin typeface="Calibri"/>
              </a:rPr>
              <a:t> </a:t>
            </a:r>
            <a:r>
              <a:rPr sz="2800" b="0" dirty="0" err="1">
                <a:solidFill>
                  <a:srgbClr val="ECF0F1"/>
                </a:solidFill>
                <a:latin typeface="Calibri"/>
              </a:rPr>
              <a:t>информационно-справочной</a:t>
            </a:r>
            <a:r>
              <a:rPr sz="2800" b="0" dirty="0">
                <a:solidFill>
                  <a:srgbClr val="ECF0F1"/>
                </a:solidFill>
                <a:latin typeface="Calibri"/>
              </a:rPr>
              <a:t> </a:t>
            </a:r>
            <a:r>
              <a:rPr sz="2800" b="0" dirty="0" err="1">
                <a:solidFill>
                  <a:srgbClr val="ECF0F1"/>
                </a:solidFill>
                <a:latin typeface="Calibri"/>
              </a:rPr>
              <a:t>системы</a:t>
            </a:r>
            <a:r>
              <a:rPr sz="2800" b="0" dirty="0">
                <a:solidFill>
                  <a:srgbClr val="ECF0F1"/>
                </a:solidFill>
                <a:latin typeface="Calibri"/>
              </a:rPr>
              <a:t>
</a:t>
            </a:r>
            <a:r>
              <a:rPr sz="2800" b="0" dirty="0" err="1">
                <a:solidFill>
                  <a:srgbClr val="ECF0F1"/>
                </a:solidFill>
                <a:latin typeface="Calibri"/>
              </a:rPr>
              <a:t>культурно-развлекательных</a:t>
            </a:r>
            <a:r>
              <a:rPr sz="2800" b="0" dirty="0">
                <a:solidFill>
                  <a:srgbClr val="ECF0F1"/>
                </a:solidFill>
                <a:latin typeface="Calibri"/>
              </a:rPr>
              <a:t> </a:t>
            </a:r>
            <a:r>
              <a:rPr sz="2800" b="0" dirty="0" err="1">
                <a:solidFill>
                  <a:srgbClr val="ECF0F1"/>
                </a:solidFill>
                <a:latin typeface="Calibri"/>
              </a:rPr>
              <a:t>центров</a:t>
            </a:r>
            <a:r>
              <a:rPr sz="2800" b="0" dirty="0">
                <a:solidFill>
                  <a:srgbClr val="ECF0F1"/>
                </a:solidFill>
                <a:latin typeface="Calibri"/>
              </a:rPr>
              <a:t>
</a:t>
            </a:r>
            <a:r>
              <a:rPr sz="2800" b="0" dirty="0" err="1">
                <a:solidFill>
                  <a:srgbClr val="ECF0F1"/>
                </a:solidFill>
                <a:latin typeface="Calibri"/>
              </a:rPr>
              <a:t>Белгородской</a:t>
            </a:r>
            <a:r>
              <a:rPr sz="2800" b="0" dirty="0">
                <a:solidFill>
                  <a:srgbClr val="ECF0F1"/>
                </a:solidFill>
                <a:latin typeface="Calibri"/>
              </a:rPr>
              <a:t> </a:t>
            </a:r>
            <a:r>
              <a:rPr sz="2800" b="0" dirty="0" err="1">
                <a:solidFill>
                  <a:srgbClr val="ECF0F1"/>
                </a:solidFill>
                <a:latin typeface="Calibri"/>
              </a:rPr>
              <a:t>области</a:t>
            </a:r>
            <a:endParaRPr sz="2800" b="0" dirty="0">
              <a:solidFill>
                <a:srgbClr val="ECF0F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 err="1">
                <a:solidFill>
                  <a:srgbClr val="ECF0F1"/>
                </a:solidFill>
                <a:latin typeface="Calibri"/>
              </a:rPr>
              <a:t>Обучающийся</a:t>
            </a:r>
            <a:r>
              <a:rPr sz="1800" b="0" dirty="0">
                <a:solidFill>
                  <a:srgbClr val="ECF0F1"/>
                </a:solidFill>
                <a:latin typeface="Calibri"/>
              </a:rPr>
              <a:t>: </a:t>
            </a:r>
            <a:r>
              <a:rPr lang="ru-RU" sz="1800" b="0" dirty="0">
                <a:solidFill>
                  <a:srgbClr val="ECF0F1"/>
                </a:solidFill>
                <a:latin typeface="Calibri"/>
              </a:rPr>
              <a:t>Кириченко </a:t>
            </a:r>
            <a:r>
              <a:rPr lang="ru-RU" dirty="0">
                <a:solidFill>
                  <a:srgbClr val="ECF0F1"/>
                </a:solidFill>
                <a:latin typeface="Calibri"/>
              </a:rPr>
              <a:t>И</a:t>
            </a:r>
            <a:r>
              <a:rPr lang="en-US" dirty="0">
                <a:solidFill>
                  <a:srgbClr val="ECF0F1"/>
                </a:solidFill>
                <a:latin typeface="Calibri"/>
              </a:rPr>
              <a:t>.</a:t>
            </a:r>
            <a:r>
              <a:rPr lang="ru-RU" dirty="0">
                <a:solidFill>
                  <a:srgbClr val="ECF0F1"/>
                </a:solidFill>
                <a:latin typeface="Calibri"/>
              </a:rPr>
              <a:t>В</a:t>
            </a:r>
            <a:r>
              <a:rPr lang="en-US" dirty="0">
                <a:solidFill>
                  <a:srgbClr val="ECF0F1"/>
                </a:solidFill>
                <a:latin typeface="Calibri"/>
              </a:rPr>
              <a:t>.</a:t>
            </a:r>
            <a:endParaRPr sz="1800" b="0" dirty="0">
              <a:solidFill>
                <a:srgbClr val="ECF0F1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530530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 err="1">
                <a:solidFill>
                  <a:srgbClr val="ECF0F1"/>
                </a:solidFill>
                <a:latin typeface="Calibri"/>
              </a:rPr>
              <a:t>Руководитель</a:t>
            </a:r>
            <a:r>
              <a:rPr sz="1800" b="0" dirty="0">
                <a:solidFill>
                  <a:srgbClr val="ECF0F1"/>
                </a:solidFill>
                <a:latin typeface="Calibri"/>
              </a:rPr>
              <a:t>:</a:t>
            </a:r>
            <a:r>
              <a:rPr lang="ru-RU" sz="1800" b="0" dirty="0">
                <a:solidFill>
                  <a:srgbClr val="ECF0F1"/>
                </a:solidFill>
                <a:latin typeface="Calibri"/>
              </a:rPr>
              <a:t> Страхова </a:t>
            </a:r>
            <a:r>
              <a:rPr lang="ru-RU" dirty="0">
                <a:solidFill>
                  <a:srgbClr val="ECF0F1"/>
                </a:solidFill>
                <a:latin typeface="Calibri"/>
              </a:rPr>
              <a:t>О</a:t>
            </a:r>
            <a:r>
              <a:rPr lang="en-US" dirty="0">
                <a:solidFill>
                  <a:srgbClr val="ECF0F1"/>
                </a:solidFill>
                <a:latin typeface="Calibri"/>
              </a:rPr>
              <a:t>.</a:t>
            </a:r>
            <a:r>
              <a:rPr lang="ru-RU" dirty="0">
                <a:solidFill>
                  <a:srgbClr val="ECF0F1"/>
                </a:solidFill>
                <a:latin typeface="Calibri"/>
              </a:rPr>
              <a:t>В</a:t>
            </a:r>
            <a:r>
              <a:rPr lang="en-US" dirty="0">
                <a:solidFill>
                  <a:srgbClr val="ECF0F1"/>
                </a:solidFill>
                <a:latin typeface="Calibri"/>
              </a:rPr>
              <a:t>.</a:t>
            </a:r>
            <a:endParaRPr sz="1800" b="0" dirty="0">
              <a:solidFill>
                <a:srgbClr val="ECF0F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Актуальность и 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1503 учреждения культуры в Белгородской области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Информация разрознена по множеству ресурсов: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 • bel.cultreg.ru — реестр, но нет карты и афиши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 • afishka31.ru — афиша, но нет каталога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 • Яндекс.Карты — карта, но нет спец.категоризации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 • 2ГИС — справочник, нет афиши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Гос. политика: нацпроект «Культура» — цифровизация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Потребность жителей в едином сервисе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74C3C"/>
                </a:solidFill>
                <a:latin typeface="Calibri"/>
              </a:rPr>
              <a:t>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Calibri"/>
              </a:rPr>
              <a:t>Ни один существующий ресурс не объединяет на одной платформе интерактивную карту, каталог учреждений, афишу мероприятий, административную панель и открытый API.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4389120"/>
            <a:ext cx="5029200" cy="13716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45720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74C3C"/>
                </a:solidFill>
                <a:latin typeface="Calibri"/>
              </a:rPr>
              <a:t>→ Разработка собственной ИТ-системы,
   объединяющей все функции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Цель и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980B9"/>
                </a:solidFill>
                <a:latin typeface="Calibri"/>
              </a:rPr>
              <a:t>Цель — разработка веб-приложения с интерактивной картой, каталогом и афишей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Анализ сферы и источников данных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Обзор существующих решений-аналогов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Разработка ТЗ (ГОСТ 19.201-78, ГОСТ 34.602-89)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Обоснование технологического стека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Реализация приложения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Тестирование и оценка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2286000"/>
            <a:ext cx="45720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260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  <a:latin typeface="Calibri"/>
              </a:rPr>
              <a:t>Анализ: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514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Выявлено 10 категорий,
1503 учреждения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971800"/>
            <a:ext cx="45720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946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  <a:latin typeface="Calibri"/>
              </a:rPr>
              <a:t>Обзор: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6 аналогов, таблица
по 11 критериям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657600"/>
            <a:ext cx="45720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632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  <a:latin typeface="Calibri"/>
              </a:rPr>
              <a:t>ТЗ: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886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10 разделов по ГОСТ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343400"/>
            <a:ext cx="45720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318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  <a:latin typeface="Calibri"/>
              </a:rPr>
              <a:t>Технологии: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572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Python, Flask, Leaflet,
SQLite, Bootstrap, Render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5029200"/>
            <a:ext cx="45720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5003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  <a:latin typeface="Calibri"/>
              </a:rPr>
              <a:t>Реализация: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5257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Карта, каталог, афиша,
админка, API, парсеры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5715000"/>
            <a:ext cx="45720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689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  <a:latin typeface="Calibri"/>
              </a:rPr>
              <a:t>Тестирование: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5943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20 сценариев — все пройдены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Сравнительный анализ существующих решений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67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6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Критерий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Яндекс.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Карты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2ГИС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bel.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cultreg.ru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Afishka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Culture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.РФ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Наша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система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Интерактивная карта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Кластеризация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Фильтр по категориям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±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±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Фильтр по районам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Каталог учреждений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Афиша мероприятий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События на карте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Админ-панель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Открытый API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Открытый 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Технологический стек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560320" cy="19202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Python 3.12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CF0F1"/>
                </a:solidFill>
                <a:latin typeface="Calibri"/>
              </a:rPr>
              <a:t>Язык программирования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463040"/>
            <a:ext cx="2560320" cy="1920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49040" y="17373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Flask 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CF0F1"/>
                </a:solidFill>
                <a:latin typeface="Calibri"/>
              </a:rPr>
              <a:t>Веб-фреймворк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2560320" cy="1920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SQLite + SQLAlchemy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CF0F1"/>
                </a:solidFill>
                <a:latin typeface="Calibri"/>
              </a:rPr>
              <a:t>База данных и 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463040"/>
            <a:ext cx="2560320" cy="1920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0" y="17373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Leaflet + MarkerCluster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CF0F1"/>
                </a:solidFill>
                <a:latin typeface="Calibri"/>
              </a:rPr>
              <a:t>Интерактивная карта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2560320" cy="1920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Bootstrap 5.3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CF0F1"/>
                </a:solidFill>
                <a:latin typeface="Calibri"/>
              </a:rPr>
              <a:t>CSS-фреймворк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3840480"/>
            <a:ext cx="2560320" cy="19202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49040" y="4114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Flask-Admin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CF0F1"/>
                </a:solidFill>
                <a:latin typeface="Calibri"/>
              </a:rPr>
              <a:t>Админ-панель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840480"/>
            <a:ext cx="2560320" cy="1920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4114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Gunicorn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CF0F1"/>
                </a:solidFill>
                <a:latin typeface="Calibri"/>
              </a:rPr>
              <a:t>WSGI-сервер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3840480"/>
            <a:ext cx="2560320" cy="192024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0" y="41148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Render.com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CF0F1"/>
                </a:solidFill>
                <a:latin typeface="Calibri"/>
              </a:rPr>
              <a:t>Хостинг и деплой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Архитектура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2743200" cy="1645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Клиент (Браузер)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CF0F1"/>
                </a:solidFill>
                <a:latin typeface="Calibri"/>
              </a:rPr>
              <a:t>HTML5 + CSS3 + JavaScript
Leaflet, Bootstrap
Jinja2-шаблоны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103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980B9"/>
                </a:solidFill>
                <a:latin typeface="Calibri"/>
              </a:rPr>
              <a:t>HTTP 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645920"/>
            <a:ext cx="274320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Сервер (Flask)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377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CF0F1"/>
                </a:solidFill>
                <a:latin typeface="Calibri"/>
              </a:rPr>
              <a:t>Gunicorn WSGI
SQLAlchemy ORM
JSON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03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7AE60"/>
                </a:solidFill>
                <a:latin typeface="Calibri"/>
              </a:rPr>
              <a:t>↔ 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1645920"/>
            <a:ext cx="2286000" cy="1645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CF0F1"/>
                </a:solidFill>
                <a:latin typeface="Calibri"/>
              </a:rPr>
              <a:t>4 таблицы
1503 записи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C3E50"/>
                </a:solidFill>
                <a:latin typeface="Calibri"/>
              </a:rPr>
              <a:t>Модели данных: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5029200" cy="10058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980B9"/>
                </a:solidFill>
                <a:latin typeface="Calibri"/>
              </a:rPr>
              <a:t>Category (10)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alibri"/>
              </a:rPr>
              <a:t>id, name, icon, color, sort_order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114800"/>
            <a:ext cx="5029200" cy="10058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980B9"/>
                </a:solidFill>
                <a:latin typeface="Calibri"/>
              </a:rPr>
              <a:t>Venue (1503)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alibri"/>
              </a:rPr>
              <a:t>id, name, address, lat, lon, district,
phone, website, description, category_id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03520"/>
            <a:ext cx="5029200" cy="10058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980B9"/>
                </a:solidFill>
                <a:latin typeface="Calibri"/>
              </a:rPr>
              <a:t>Event (10+)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alibri"/>
              </a:rPr>
              <a:t>id, title, description, date_start,
date_end, price, age_rating, venue_id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5303520"/>
            <a:ext cx="5029200" cy="10058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980B9"/>
                </a:solidFill>
                <a:latin typeface="Calibri"/>
              </a:rPr>
              <a:t>AdminUser (1)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alibri"/>
              </a:rPr>
              <a:t>id, username, password_hash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74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C3E50"/>
                </a:solidFill>
                <a:latin typeface="Calibri"/>
              </a:rPr>
              <a:t>API-</a:t>
            </a:r>
            <a:r>
              <a:rPr sz="2000" b="1" dirty="0" err="1">
                <a:solidFill>
                  <a:srgbClr val="2C3E50"/>
                </a:solidFill>
                <a:latin typeface="Calibri"/>
              </a:rPr>
              <a:t>маршруты</a:t>
            </a:r>
            <a:r>
              <a:rPr sz="2000" b="1" dirty="0">
                <a:solidFill>
                  <a:srgbClr val="2C3E50"/>
                </a:solidFill>
                <a:latin typeface="Calibri"/>
              </a:rPr>
              <a:t>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Ключевые моменты разработки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980B9"/>
                </a:solidFill>
                <a:latin typeface="Calibri"/>
              </a:rPr>
              <a:t>Импорт данных (cultreg.ru)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REST API, пагинация (100/запрос)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Маппинг 12 категорий → 10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Импортировано 1487 объектов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980B9"/>
                </a:solidFill>
                <a:latin typeface="Calibri"/>
              </a:rPr>
              <a:t>Карта и кластеризация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1503 маркера через L.divIcon (цвет по категории)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MarkerCluster (chunkedLoading, maxRadius=50)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Граница области: GeoJSON (890 точек, красный контур)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Popup с названием, адресом и 3 ближайшими событиями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980B9"/>
                </a:solidFill>
                <a:latin typeface="Calibri"/>
              </a:rPr>
              <a:t>Фильтрация и поиск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По категории, району, названию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Динамическая перезагрузка маркеров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74C3C"/>
                </a:solidFill>
                <a:latin typeface="Calibri"/>
              </a:rPr>
              <a:t>Оптимизация N+1 запроса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5029200" cy="164592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7AE60"/>
                </a:solidFill>
                <a:latin typeface="Calibri"/>
              </a:rPr>
              <a:t>ДО: 1504 SQL-запросов, 12 сек
</a:t>
            </a:r>
          </a:p>
          <a:p>
            <a:r>
              <a:rPr sz="1400" b="1"/>
              <a:t>ПОСЛЕ: 2 SQL-запроса, 5-6 сек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980B9"/>
                </a:solidFill>
                <a:latin typeface="Calibri"/>
              </a:rPr>
              <a:t>Административная панель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891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Flask-Admin + Flask-Login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Управление: категории, объекты, мероприятия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Запуск парсеров из веб-интерфейса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980B9"/>
                </a:solidFill>
                <a:latin typeface="Calibri"/>
              </a:rPr>
              <a:t>Деплой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6692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Render.com + GitHub (автодеплой)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Gunicorn + Procfile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https://kulturnaya-karta-31.onrender.com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Интерфейс системы</a:t>
            </a:r>
          </a:p>
        </p:txBody>
      </p:sp>
      <p:pic>
        <p:nvPicPr>
          <p:cNvPr id="4" name="Picture 3" descr="fig_a1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3035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789123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 err="1">
                <a:solidFill>
                  <a:srgbClr val="2C3E50"/>
                </a:solidFill>
                <a:latin typeface="Calibri"/>
              </a:rPr>
              <a:t>Главная</a:t>
            </a:r>
            <a:r>
              <a:rPr sz="13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2C3E50"/>
                </a:solidFill>
                <a:latin typeface="Calibri"/>
              </a:rPr>
              <a:t>страница</a:t>
            </a:r>
            <a:r>
              <a:rPr sz="1300" b="0" dirty="0">
                <a:solidFill>
                  <a:srgbClr val="2C3E50"/>
                </a:solidFill>
                <a:latin typeface="Calibri"/>
              </a:rPr>
              <a:t> — </a:t>
            </a:r>
            <a:r>
              <a:rPr sz="1300" b="0" dirty="0" err="1">
                <a:solidFill>
                  <a:srgbClr val="2C3E50"/>
                </a:solidFill>
                <a:latin typeface="Calibri"/>
              </a:rPr>
              <a:t>карта</a:t>
            </a:r>
            <a:endParaRPr sz="1300" b="0" dirty="0">
              <a:solidFill>
                <a:srgbClr val="2C3E50"/>
              </a:solidFill>
              <a:latin typeface="Calibri"/>
            </a:endParaRPr>
          </a:p>
        </p:txBody>
      </p:sp>
      <p:pic>
        <p:nvPicPr>
          <p:cNvPr id="6" name="Picture 5" descr="fig_a3_venue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71600"/>
            <a:ext cx="530352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3840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Детальная страница объекта</a:t>
            </a:r>
          </a:p>
        </p:txBody>
      </p:sp>
      <p:pic>
        <p:nvPicPr>
          <p:cNvPr id="8" name="Picture 7" descr="fig_a4_ev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14800"/>
            <a:ext cx="5303520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83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Афиша мероприятий</a:t>
            </a:r>
          </a:p>
        </p:txBody>
      </p:sp>
      <p:pic>
        <p:nvPicPr>
          <p:cNvPr id="10" name="Picture 9" descr="fig_a5_pop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114800"/>
            <a:ext cx="530352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0" y="6583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Popup маркера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Тестирование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Метод: чёрный ящик (ручное тестирование)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20 тестовых сценариев — все модули системы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Функциональное тестирование API (4 сценария)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Проверка кластеризации, фильтров, админки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Результат: все 20 тестов пройдены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5029200" cy="20116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980B9"/>
                </a:solidFill>
                <a:latin typeface="Calibri"/>
              </a:rPr>
              <a:t>Производительность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846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• API /api/map-data (без фильтров): 5-6 сек
• API /api/map-data (с фильтром): 0.1-0.5 сек
• Полная загрузка страницы: 7-8 сек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029200" cy="466344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  <a:latin typeface="Calibri"/>
              </a:rPr>
              <a:t>Итоги тестирования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✓ Все функциональные требования ТЗ реализованы
✓ Система работает штатно
✓ Дефектов не выявлено
✓ Система готова к эксплуатации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Результаты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737360" cy="1645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1503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CF0F1"/>
                </a:solidFill>
                <a:latin typeface="Calibri"/>
              </a:rPr>
              <a:t>учреждения
в базе данных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463040"/>
            <a:ext cx="1737360" cy="1645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16459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3774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CF0F1"/>
                </a:solidFill>
                <a:latin typeface="Calibri"/>
              </a:rPr>
              <a:t>категорий
культуры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1737360" cy="1645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6459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20+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3774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CF0F1"/>
                </a:solidFill>
                <a:latin typeface="Calibri"/>
              </a:rPr>
              <a:t>районов
области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173736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6459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774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CF0F1"/>
                </a:solidFill>
                <a:latin typeface="Calibri"/>
              </a:rPr>
              <a:t>страниц /
маршрутов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463040"/>
            <a:ext cx="173736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6459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774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CF0F1"/>
                </a:solidFill>
                <a:latin typeface="Calibri"/>
              </a:rPr>
              <a:t>критериев
превосходства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1463040"/>
            <a:ext cx="173736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49840" y="16459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23774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CF0F1"/>
                </a:solidFill>
                <a:latin typeface="Calibri"/>
              </a:rPr>
              <a:t>источников
в списке лит-ры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74720"/>
            <a:ext cx="11247120" cy="914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3611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980B9"/>
                </a:solidFill>
                <a:latin typeface="Calibri"/>
              </a:rPr>
              <a:t>Веб-приложение: https://kulturnaya-karta-31.onrender.com     |     GitHub: github.com/lstvxmain-stack/diplom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5029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Практическая</a:t>
            </a:r>
            <a:r>
              <a:rPr sz="160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значимость</a:t>
            </a:r>
            <a:r>
              <a:rPr sz="1600" dirty="0">
                <a:solidFill>
                  <a:srgbClr val="2C3E50"/>
                </a:solidFill>
                <a:latin typeface="Calibri"/>
              </a:rPr>
              <a:t>: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2C3E50"/>
                </a:solidFill>
                <a:latin typeface="Calibri"/>
              </a:rPr>
              <a:t>•   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Жители</a:t>
            </a:r>
            <a:r>
              <a:rPr sz="1600" dirty="0">
                <a:solidFill>
                  <a:srgbClr val="2C3E50"/>
                </a:solidFill>
                <a:latin typeface="Calibri"/>
              </a:rPr>
              <a:t> и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гости</a:t>
            </a:r>
            <a:r>
              <a:rPr sz="160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региона</a:t>
            </a:r>
            <a:r>
              <a:rPr sz="1600" dirty="0">
                <a:solidFill>
                  <a:srgbClr val="2C3E50"/>
                </a:solidFill>
                <a:latin typeface="Calibri"/>
              </a:rPr>
              <a:t> →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планирование</a:t>
            </a:r>
            <a:r>
              <a:rPr sz="160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досуга</a:t>
            </a:r>
            <a:endParaRPr sz="1600" dirty="0">
              <a:solidFill>
                <a:srgbClr val="2C3E50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2C3E50"/>
                </a:solidFill>
                <a:latin typeface="Calibri"/>
              </a:rPr>
              <a:t>•   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Органы</a:t>
            </a:r>
            <a:r>
              <a:rPr sz="160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управления</a:t>
            </a:r>
            <a:r>
              <a:rPr sz="1600" dirty="0">
                <a:solidFill>
                  <a:srgbClr val="2C3E50"/>
                </a:solidFill>
                <a:latin typeface="Calibri"/>
              </a:rPr>
              <a:t> →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мониторинг</a:t>
            </a:r>
            <a:r>
              <a:rPr sz="1600" dirty="0">
                <a:solidFill>
                  <a:srgbClr val="2C3E50"/>
                </a:solidFill>
                <a:latin typeface="Calibri"/>
              </a:rPr>
              <a:t> и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анализ</a:t>
            </a:r>
            <a:endParaRPr sz="1600" dirty="0">
              <a:solidFill>
                <a:srgbClr val="2C3E50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2C3E50"/>
                </a:solidFill>
                <a:latin typeface="Calibri"/>
              </a:rPr>
              <a:t>•   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Разработчики</a:t>
            </a:r>
            <a:r>
              <a:rPr sz="1600" dirty="0">
                <a:solidFill>
                  <a:srgbClr val="2C3E50"/>
                </a:solidFill>
                <a:latin typeface="Calibri"/>
              </a:rPr>
              <a:t> →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открытый</a:t>
            </a:r>
            <a:r>
              <a:rPr sz="1600" dirty="0">
                <a:solidFill>
                  <a:srgbClr val="2C3E50"/>
                </a:solidFill>
                <a:latin typeface="Calibri"/>
              </a:rPr>
              <a:t> JSON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54880"/>
            <a:ext cx="502920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Перспективы</a:t>
            </a:r>
            <a:r>
              <a:rPr sz="1600" dirty="0">
                <a:solidFill>
                  <a:srgbClr val="2C3E50"/>
                </a:solidFill>
                <a:latin typeface="Calibri"/>
              </a:rPr>
              <a:t>:</a:t>
            </a: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2C3E50"/>
                </a:solidFill>
                <a:latin typeface="Calibri"/>
              </a:rPr>
              <a:t>•  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Собственный</a:t>
            </a:r>
            <a:r>
              <a:rPr sz="160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домен</a:t>
            </a:r>
            <a:endParaRPr sz="1600" dirty="0">
              <a:solidFill>
                <a:srgbClr val="2C3E50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2C3E50"/>
                </a:solidFill>
                <a:latin typeface="Calibri"/>
              </a:rPr>
              <a:t>•   PostgreSQL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для</a:t>
            </a:r>
            <a:r>
              <a:rPr sz="160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производительности</a:t>
            </a:r>
            <a:endParaRPr sz="1600" dirty="0">
              <a:solidFill>
                <a:srgbClr val="2C3E50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2C3E50"/>
                </a:solidFill>
                <a:latin typeface="Calibri"/>
              </a:rPr>
              <a:t>•  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Мобильная</a:t>
            </a:r>
            <a:r>
              <a:rPr sz="160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версия</a:t>
            </a:r>
            <a:endParaRPr sz="1600" dirty="0">
              <a:solidFill>
                <a:srgbClr val="2C3E50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2C3E50"/>
                </a:solidFill>
                <a:latin typeface="Calibri"/>
              </a:rPr>
              <a:t>•  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Отзывы</a:t>
            </a:r>
            <a:r>
              <a:rPr sz="1600" dirty="0">
                <a:solidFill>
                  <a:srgbClr val="2C3E50"/>
                </a:solidFill>
                <a:latin typeface="Calibri"/>
              </a:rPr>
              <a:t> и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рейтинги</a:t>
            </a:r>
            <a:r>
              <a:rPr sz="160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2C3E50"/>
                </a:solidFill>
                <a:latin typeface="Calibri"/>
              </a:rPr>
              <a:t>учреждений</a:t>
            </a:r>
            <a:endParaRPr sz="1600" dirty="0">
              <a:solidFill>
                <a:srgbClr val="2C3E5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 err="1">
                <a:solidFill>
                  <a:srgbClr val="ECF0F1"/>
                </a:solidFill>
                <a:latin typeface="Calibri"/>
              </a:rPr>
              <a:t>Готов</a:t>
            </a:r>
            <a:r>
              <a:rPr sz="2400" b="0" dirty="0">
                <a:solidFill>
                  <a:srgbClr val="ECF0F1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CF0F1"/>
                </a:solidFill>
                <a:latin typeface="Calibri"/>
              </a:rPr>
              <a:t>ответить</a:t>
            </a:r>
            <a:r>
              <a:rPr sz="2400" b="0" dirty="0">
                <a:solidFill>
                  <a:srgbClr val="ECF0F1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CF0F1"/>
                </a:solidFill>
                <a:latin typeface="Calibri"/>
              </a:rPr>
              <a:t>на</a:t>
            </a:r>
            <a:r>
              <a:rPr sz="2400" b="0" dirty="0">
                <a:solidFill>
                  <a:srgbClr val="ECF0F1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CF0F1"/>
                </a:solidFill>
                <a:latin typeface="Calibri"/>
              </a:rPr>
              <a:t>ваши</a:t>
            </a:r>
            <a:r>
              <a:rPr sz="2400" b="0" dirty="0">
                <a:solidFill>
                  <a:srgbClr val="ECF0F1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ECF0F1"/>
                </a:solidFill>
                <a:latin typeface="Calibri"/>
              </a:rPr>
              <a:t>вопросы</a:t>
            </a:r>
            <a:endParaRPr sz="2400" b="0" dirty="0">
              <a:solidFill>
                <a:srgbClr val="ECF0F1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880</Words>
  <Application>Microsoft Office PowerPoint</Application>
  <PresentationFormat>Широкоэкранный</PresentationFormat>
  <Paragraphs>225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Цист Яна</cp:lastModifiedBy>
  <cp:revision>3</cp:revision>
  <dcterms:created xsi:type="dcterms:W3CDTF">2013-01-27T09:14:16Z</dcterms:created>
  <dcterms:modified xsi:type="dcterms:W3CDTF">2026-06-18T19:54:00Z</dcterms:modified>
  <cp:category/>
</cp:coreProperties>
</file>